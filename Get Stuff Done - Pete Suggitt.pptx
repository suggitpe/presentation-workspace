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56" r:id="rId5"/>
    <p:sldId id="263" r:id="rId6"/>
    <p:sldId id="261" r:id="rId7"/>
    <p:sldId id="270" r:id="rId8"/>
    <p:sldId id="282" r:id="rId9"/>
    <p:sldId id="283" r:id="rId10"/>
    <p:sldId id="285" r:id="rId11"/>
    <p:sldId id="286" r:id="rId12"/>
    <p:sldId id="287" r:id="rId13"/>
    <p:sldId id="288" r:id="rId14"/>
    <p:sldId id="284" r:id="rId15"/>
    <p:sldId id="296" r:id="rId16"/>
    <p:sldId id="297" r:id="rId17"/>
    <p:sldId id="299" r:id="rId18"/>
    <p:sldId id="301" r:id="rId19"/>
    <p:sldId id="300" r:id="rId20"/>
    <p:sldId id="298" r:id="rId21"/>
    <p:sldId id="302" r:id="rId22"/>
    <p:sldId id="303" r:id="rId23"/>
    <p:sldId id="304" r:id="rId24"/>
    <p:sldId id="267" r:id="rId25"/>
    <p:sldId id="305" r:id="rId26"/>
    <p:sldId id="292" r:id="rId27"/>
    <p:sldId id="260" r:id="rId28"/>
    <p:sldId id="278" r:id="rId29"/>
    <p:sldId id="269" r:id="rId30"/>
    <p:sldId id="306" r:id="rId31"/>
    <p:sldId id="293" r:id="rId32"/>
    <p:sldId id="307" r:id="rId33"/>
    <p:sldId id="27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1CEA3E-13AC-420A-96B4-98B7B1A58BC6}">
          <p14:sldIdLst>
            <p14:sldId id="256"/>
          </p14:sldIdLst>
        </p14:section>
        <p14:section name="Intros and why we are here" id="{F8D2119C-6844-4479-9CF7-2E866937F9C4}">
          <p14:sldIdLst>
            <p14:sldId id="263"/>
            <p14:sldId id="261"/>
            <p14:sldId id="270"/>
            <p14:sldId id="282"/>
            <p14:sldId id="283"/>
            <p14:sldId id="285"/>
            <p14:sldId id="286"/>
            <p14:sldId id="287"/>
            <p14:sldId id="288"/>
            <p14:sldId id="284"/>
            <p14:sldId id="296"/>
          </p14:sldIdLst>
        </p14:section>
        <p14:section name="The story" id="{3A58F242-5AE5-4336-BB9D-208DB57509ED}">
          <p14:sldIdLst>
            <p14:sldId id="297"/>
            <p14:sldId id="299"/>
            <p14:sldId id="301"/>
            <p14:sldId id="300"/>
            <p14:sldId id="298"/>
            <p14:sldId id="302"/>
            <p14:sldId id="303"/>
            <p14:sldId id="304"/>
            <p14:sldId id="267"/>
            <p14:sldId id="305"/>
            <p14:sldId id="292"/>
            <p14:sldId id="260"/>
            <p14:sldId id="278"/>
            <p14:sldId id="269"/>
            <p14:sldId id="306"/>
            <p14:sldId id="293"/>
            <p14:sldId id="307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94" autoAdjust="0"/>
    <p:restoredTop sz="61501" autoAdjust="0"/>
  </p:normalViewPr>
  <p:slideViewPr>
    <p:cSldViewPr snapToGrid="0">
      <p:cViewPr varScale="1">
        <p:scale>
          <a:sx n="68" d="100"/>
          <a:sy n="68" d="100"/>
        </p:scale>
        <p:origin x="156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8" d="100"/>
          <a:sy n="98" d="100"/>
        </p:scale>
        <p:origin x="359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229BF-EB63-44DD-B372-6E71EC1411E7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91B73-4197-47B6-81ED-119E717D5F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94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can we get big stuff done at NW?</a:t>
            </a:r>
          </a:p>
          <a:p>
            <a:endParaRPr lang="en-GB" dirty="0"/>
          </a:p>
          <a:p>
            <a:r>
              <a:rPr lang="en-GB" dirty="0"/>
              <a:t>Spot the cultural</a:t>
            </a:r>
            <a:r>
              <a:rPr lang="en-GB" baseline="0" dirty="0"/>
              <a:t> references…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04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not a walk through of the banks bureaucracy you will be glad to hear</a:t>
            </a:r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676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Intros are very</a:t>
            </a:r>
            <a:r>
              <a:rPr lang="en-GB" baseline="0" dirty="0"/>
              <a:t> important … tell them who you are … and why you are here …</a:t>
            </a:r>
          </a:p>
          <a:p>
            <a:r>
              <a:rPr lang="en-GB" baseline="0" dirty="0"/>
              <a:t> - Engineering Fellow</a:t>
            </a:r>
          </a:p>
          <a:p>
            <a:r>
              <a:rPr lang="en-GB" baseline="0" dirty="0"/>
              <a:t> - involved in a number of EAEP projects over the years</a:t>
            </a:r>
          </a:p>
          <a:p>
            <a:r>
              <a:rPr lang="en-GB" baseline="0" dirty="0"/>
              <a:t> - given many teams feedback on their pitches over the years</a:t>
            </a:r>
          </a:p>
          <a:p>
            <a:endParaRPr lang="en-GB" baseline="0" dirty="0"/>
          </a:p>
          <a:p>
            <a:r>
              <a:rPr lang="en-GB" baseline="0" dirty="0"/>
              <a:t>I’m here to give you a sense of getting stuff done in NW in reality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69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before we get to that… a story.</a:t>
            </a:r>
          </a:p>
          <a:p>
            <a:r>
              <a:rPr lang="en-GB" dirty="0"/>
              <a:t>And I don’t care if it’s apocryphal.</a:t>
            </a:r>
          </a:p>
          <a:p>
            <a:r>
              <a:rPr lang="en-GB" dirty="0"/>
              <a:t>Apologies to those that have heard it already.</a:t>
            </a:r>
          </a:p>
          <a:p>
            <a:endParaRPr lang="en-GB" dirty="0"/>
          </a:p>
          <a:p>
            <a:r>
              <a:rPr lang="en-GB" dirty="0"/>
              <a:t>Several monkeys.  One ladder.  One bunch of bananas.</a:t>
            </a:r>
          </a:p>
          <a:p>
            <a:r>
              <a:rPr lang="en-GB" baseline="0" dirty="0"/>
              <a:t>Monkeys like bananas.</a:t>
            </a:r>
          </a:p>
          <a:p>
            <a:r>
              <a:rPr lang="en-GB" baseline="0" dirty="0"/>
              <a:t>One climbs the ladder.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296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Everyone else</a:t>
            </a:r>
            <a:r>
              <a:rPr lang="en-GB" baseline="0" dirty="0"/>
              <a:t> gets sprayed with cold water.</a:t>
            </a:r>
          </a:p>
          <a:p>
            <a:r>
              <a:rPr lang="en-GB" baseline="0" dirty="0"/>
              <a:t>They’re not keen.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943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now-cold monkeys beat</a:t>
            </a:r>
            <a:r>
              <a:rPr lang="en-GB" baseline="0" dirty="0"/>
              <a:t> up the monkey who went up the ladder.</a:t>
            </a:r>
          </a:p>
          <a:p>
            <a:r>
              <a:rPr lang="en-GB" baseline="0" dirty="0"/>
              <a:t>This continues until no monkey attempts to scale the ladder.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85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that everyone has learnt</a:t>
            </a:r>
            <a:r>
              <a:rPr lang="en-GB" baseline="0" dirty="0"/>
              <a:t> their lesson, we swap out one monkey for another.</a:t>
            </a:r>
          </a:p>
          <a:p>
            <a:r>
              <a:rPr lang="en-GB" baseline="0" dirty="0"/>
              <a:t>This is an innocent monkey.  It knows nothing of the cold shower.</a:t>
            </a:r>
          </a:p>
          <a:p>
            <a:r>
              <a:rPr lang="en-GB" baseline="0" dirty="0"/>
              <a:t>It sees bananas.</a:t>
            </a:r>
          </a:p>
          <a:p>
            <a:r>
              <a:rPr lang="en-GB" baseline="0" dirty="0"/>
              <a:t>Naturally, it scales the ladder.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248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Beatings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413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Another monkey is substituted.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316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Beatings</a:t>
            </a:r>
            <a:r>
              <a:rPr lang="en-GB" baseline="0" dirty="0"/>
              <a:t> follow.  The previously naïve monkey joins in the beatings.  Well, everyone else does it.  It’s what we do.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110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/>
              <a:t>Eventually all of the original monkeys are replaced.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baseline="0" dirty="0"/>
              <a:t>None of these monkeys dare to ascend the ladder for fear of beatings.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baseline="0" dirty="0"/>
              <a:t>But the original reason has been lost – after all, none of these monkeys have ever been sprayed with cold water.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baseline="0" dirty="0"/>
              <a:t>“It’s what we do around here.”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baseline="0" dirty="0"/>
              <a:t>Just because we’ve always done things a certain way doesn’t mean we shouldn’t change.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730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why we are here</a:t>
            </a:r>
            <a:r>
              <a:rPr lang="en-GB" baseline="0" dirty="0"/>
              <a:t> … this is the point of the EAEP course …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575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Pete joint the firm in 2023</a:t>
            </a:r>
          </a:p>
          <a:p>
            <a:endParaRPr lang="en-GB" dirty="0"/>
          </a:p>
          <a:p>
            <a:r>
              <a:rPr lang="en-GB" dirty="0"/>
              <a:t>Joined as the Principal Engineer for Corporate and Investment CDIO</a:t>
            </a:r>
          </a:p>
          <a:p>
            <a:endParaRPr lang="en-GB" baseline="0" dirty="0"/>
          </a:p>
          <a:p>
            <a:r>
              <a:rPr lang="en-GB" baseline="0" dirty="0"/>
              <a:t>My role was C&amp;I limited and focused on engineering and architecture.</a:t>
            </a:r>
          </a:p>
          <a:p>
            <a:endParaRPr lang="en-GB" baseline="0" dirty="0"/>
          </a:p>
          <a:p>
            <a:r>
              <a:rPr lang="en-GB" baseline="0" dirty="0"/>
              <a:t>But I had a secret mission .. Change the culture to one focused on engineering … get the function excited about engineering again</a:t>
            </a:r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663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Start small</a:t>
            </a:r>
            <a:r>
              <a:rPr lang="en-GB" baseline="0" dirty="0"/>
              <a:t> … what’s the smallest thing you could do?</a:t>
            </a:r>
          </a:p>
          <a:p>
            <a:endParaRPr lang="en-GB" baseline="0" dirty="0"/>
          </a:p>
          <a:p>
            <a:r>
              <a:rPr lang="en-GB" baseline="0" dirty="0"/>
              <a:t> - run a coding kata ... Get some interest in it … </a:t>
            </a:r>
          </a:p>
          <a:p>
            <a:r>
              <a:rPr lang="en-GB" baseline="0" dirty="0"/>
              <a:t> - feedback from the teams was super positive … they like learning</a:t>
            </a:r>
          </a:p>
          <a:p>
            <a:r>
              <a:rPr lang="en-GB" baseline="0" dirty="0"/>
              <a:t> - we had a number of people try it and take it on</a:t>
            </a:r>
          </a:p>
          <a:p>
            <a:r>
              <a:rPr lang="en-GB" baseline="0" dirty="0"/>
              <a:t> - we had the whole of a management team doing it</a:t>
            </a:r>
          </a:p>
          <a:p>
            <a:endParaRPr lang="en-GB" baseline="0" dirty="0"/>
          </a:p>
          <a:p>
            <a:r>
              <a:rPr lang="en-GB" b="1" baseline="0" dirty="0"/>
              <a:t>Key message: do small things that have impact … </a:t>
            </a:r>
          </a:p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840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will have setbacks … people do daft</a:t>
            </a:r>
            <a:r>
              <a:rPr lang="en-GB" baseline="0" dirty="0"/>
              <a:t> things</a:t>
            </a:r>
          </a:p>
          <a:p>
            <a:endParaRPr lang="en-GB" baseline="0" dirty="0"/>
          </a:p>
          <a:p>
            <a:r>
              <a:rPr lang="en-GB" baseline="0" dirty="0"/>
              <a:t> - someone came to me to tell me that they were not allowing a contractor to attend … </a:t>
            </a:r>
            <a:r>
              <a:rPr lang="en-GB" baseline="0" dirty="0" err="1"/>
              <a:t>permies</a:t>
            </a:r>
            <a:r>
              <a:rPr lang="en-GB" baseline="0" dirty="0"/>
              <a:t> only </a:t>
            </a:r>
          </a:p>
          <a:p>
            <a:r>
              <a:rPr lang="en-GB" baseline="0" dirty="0"/>
              <a:t>     - missed the point … this is about developing our teams … not individuals</a:t>
            </a:r>
          </a:p>
          <a:p>
            <a:endParaRPr lang="en-GB" baseline="0" dirty="0"/>
          </a:p>
          <a:p>
            <a:r>
              <a:rPr lang="en-GB" baseline="0" dirty="0"/>
              <a:t>- Someone else came to me to ask who would pay for the change in engineering in adopting TDD</a:t>
            </a:r>
          </a:p>
          <a:p>
            <a:endParaRPr lang="en-GB" baseline="0" dirty="0"/>
          </a:p>
          <a:p>
            <a:r>
              <a:rPr lang="en-GB" b="1" baseline="0" dirty="0"/>
              <a:t>Keep going … don’t give up 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763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  <a:p>
            <a:endParaRPr lang="en-GB" dirty="0"/>
          </a:p>
          <a:p>
            <a:r>
              <a:rPr lang="en-GB" b="1" dirty="0"/>
              <a:t>If</a:t>
            </a:r>
            <a:r>
              <a:rPr lang="en-GB" b="1" baseline="0" dirty="0"/>
              <a:t> it takes off think about how to scale … probably means you need to let it go … don’t be personally emotional about it … make it easy for it to succeed in its own right … </a:t>
            </a:r>
          </a:p>
          <a:p>
            <a:endParaRPr lang="en-GB" b="1" baseline="0" dirty="0"/>
          </a:p>
          <a:p>
            <a:r>
              <a:rPr lang="en-GB" b="1" baseline="0" dirty="0"/>
              <a:t>You cant do this alone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862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Examples needed</a:t>
            </a:r>
            <a:endParaRPr lang="en-GB" baseline="0" dirty="0"/>
          </a:p>
          <a:p>
            <a:endParaRPr lang="en-GB" baseline="0" dirty="0"/>
          </a:p>
          <a:p>
            <a:r>
              <a:rPr lang="en-GB" b="1" baseline="0" dirty="0"/>
              <a:t>At some point you need to pitch for some money … that’s why this is in this course … its important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190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</a:t>
            </a:r>
            <a:r>
              <a:rPr lang="en-GB" baseline="0" dirty="0"/>
              <a:t> points to a good pitch ... You have practiced this in this course … hope you had fun …</a:t>
            </a:r>
          </a:p>
          <a:p>
            <a:endParaRPr lang="en-GB" baseline="0" dirty="0"/>
          </a:p>
          <a:p>
            <a:pPr marL="228600" indent="-228600">
              <a:buAutoNum type="arabicPeriod"/>
            </a:pPr>
            <a:r>
              <a:rPr lang="en-GB" baseline="0" dirty="0"/>
              <a:t>Get them on the hook … an emotional statement …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baseline="0" dirty="0"/>
              <a:t>what if I told you we could get our license to operate taken away if we carry on like this</a:t>
            </a:r>
          </a:p>
          <a:p>
            <a:pPr marL="228600" indent="-228600">
              <a:buAutoNum type="arabicPeriod"/>
            </a:pPr>
            <a:r>
              <a:rPr lang="en-GB" baseline="0" dirty="0"/>
              <a:t>Get the facts on the table …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baseline="0" dirty="0"/>
              <a:t>how many people testing manually, how well does this work</a:t>
            </a:r>
          </a:p>
          <a:p>
            <a:pPr marL="228600" indent="-228600">
              <a:buAutoNum type="arabicPeriod"/>
            </a:pPr>
            <a:r>
              <a:rPr lang="en-GB" baseline="0" dirty="0"/>
              <a:t>Describe the complexity …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baseline="0" dirty="0"/>
              <a:t>prod issues, late delivery, high cost … describe a burning platform</a:t>
            </a:r>
          </a:p>
          <a:p>
            <a:pPr marL="228600" indent="-228600">
              <a:buAutoNum type="arabicPeriod"/>
            </a:pPr>
            <a:r>
              <a:rPr lang="en-GB" baseline="0" dirty="0"/>
              <a:t>Show them that you have evaluated options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baseline="0" dirty="0"/>
              <a:t>Use internal staff … use a vendor … </a:t>
            </a:r>
          </a:p>
          <a:p>
            <a:pPr marL="228600" indent="-228600">
              <a:buAutoNum type="arabicPeriod"/>
            </a:pPr>
            <a:r>
              <a:rPr lang="en-GB" baseline="0" dirty="0"/>
              <a:t>Get the deal done …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baseline="0" dirty="0"/>
              <a:t>Why did we chose John?</a:t>
            </a:r>
          </a:p>
          <a:p>
            <a:pPr marL="228600" indent="-228600"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87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Yay … we pitched … people</a:t>
            </a:r>
            <a:r>
              <a:rPr lang="en-GB" baseline="0" dirty="0"/>
              <a:t> got it … but no funding … </a:t>
            </a:r>
            <a:endParaRPr lang="en-GB" dirty="0"/>
          </a:p>
          <a:p>
            <a:endParaRPr lang="en-GB" dirty="0"/>
          </a:p>
          <a:p>
            <a:r>
              <a:rPr lang="en-GB" dirty="0"/>
              <a:t>It</a:t>
            </a:r>
            <a:r>
              <a:rPr lang="en-GB" baseline="0" dirty="0"/>
              <a:t> didn’t work the first time … </a:t>
            </a:r>
            <a:r>
              <a:rPr lang="en-GB" b="1" baseline="0" dirty="0"/>
              <a:t>no burning platform </a:t>
            </a:r>
            <a:r>
              <a:rPr lang="en-GB" baseline="0" dirty="0"/>
              <a:t>… didn’t feel real … CIOs did not want to do it … people wanted the money for other things … </a:t>
            </a:r>
          </a:p>
          <a:p>
            <a:endParaRPr lang="en-GB" baseline="0" dirty="0"/>
          </a:p>
          <a:p>
            <a:r>
              <a:rPr lang="en-GB" baseline="0" dirty="0"/>
              <a:t>The burning platform was not the testing approach … the burning platform is too many people … high cost … </a:t>
            </a:r>
          </a:p>
          <a:p>
            <a:endParaRPr lang="en-GB" baseline="0" dirty="0"/>
          </a:p>
          <a:p>
            <a:r>
              <a:rPr lang="en-GB" b="1" baseline="0" dirty="0"/>
              <a:t>Key message: no one will buy it if there is no burning platform … </a:t>
            </a:r>
          </a:p>
          <a:p>
            <a:endParaRPr lang="en-GB" baseline="0" dirty="0"/>
          </a:p>
          <a:p>
            <a:r>
              <a:rPr lang="en-GB" baseline="0" dirty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201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you get knocked</a:t>
            </a:r>
            <a:r>
              <a:rPr lang="en-GB" baseline="0" dirty="0"/>
              <a:t> down you need to think about how to pivot … be creative … </a:t>
            </a:r>
          </a:p>
          <a:p>
            <a:endParaRPr lang="en-GB" baseline="0" dirty="0"/>
          </a:p>
          <a:p>
            <a:r>
              <a:rPr lang="en-GB" baseline="0" dirty="0"/>
              <a:t>We needed the money, but the pitch was not right … we talked about efficiency … </a:t>
            </a:r>
          </a:p>
          <a:p>
            <a:endParaRPr lang="en-GB" baseline="0" dirty="0"/>
          </a:p>
          <a:p>
            <a:r>
              <a:rPr lang="en-GB" baseline="0" dirty="0"/>
              <a:t>Money talks … </a:t>
            </a:r>
            <a:r>
              <a:rPr lang="en-GB" b="1" baseline="0" dirty="0"/>
              <a:t>we created an invest to save program </a:t>
            </a:r>
            <a:r>
              <a:rPr lang="en-GB" baseline="0" dirty="0"/>
              <a:t>… we committed to actual headcount reduction from this investment</a:t>
            </a:r>
          </a:p>
          <a:p>
            <a:endParaRPr lang="en-GB" baseline="0" dirty="0"/>
          </a:p>
          <a:p>
            <a:r>
              <a:rPr lang="en-GB" baseline="0" dirty="0"/>
              <a:t>This sounds awful right … not so … our manual testers are now all test engineers … we made the cuts overall … mostly through sensible management thinking …. </a:t>
            </a:r>
          </a:p>
          <a:p>
            <a:endParaRPr lang="en-GB" baseline="0" dirty="0"/>
          </a:p>
          <a:p>
            <a:r>
              <a:rPr lang="en-GB" b="1" baseline="0" dirty="0"/>
              <a:t>Key messages … understand how to approach the problem differently … pivot …</a:t>
            </a:r>
          </a:p>
          <a:p>
            <a:endParaRPr lang="en-GB" baseline="0" dirty="0"/>
          </a:p>
          <a:p>
            <a:r>
              <a:rPr lang="en-GB" b="1" baseline="0" dirty="0"/>
              <a:t>Be committed … headcount reduction is a committed move … we might if we test more is not committed </a:t>
            </a:r>
          </a:p>
          <a:p>
            <a:endParaRPr lang="en-GB" b="1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/>
              <a:t>- side talk about the group party strategy … situation changes … talk to the right people </a:t>
            </a:r>
            <a:endParaRPr lang="en-GB" dirty="0"/>
          </a:p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382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Alongside</a:t>
            </a:r>
            <a:r>
              <a:rPr lang="en-GB" baseline="0" dirty="0"/>
              <a:t> testing we started to focus lot around </a:t>
            </a:r>
            <a:r>
              <a:rPr lang="en-GB" baseline="0" dirty="0" err="1"/>
              <a:t>devops</a:t>
            </a:r>
            <a:r>
              <a:rPr lang="en-GB" baseline="0" dirty="0"/>
              <a:t> … it’s a fun word to debate this one … if you want to see a debate kick off just for fun drop into a team of quality engineers and tell them you have a budget for a new </a:t>
            </a:r>
            <a:r>
              <a:rPr lang="en-GB" baseline="0" dirty="0" err="1"/>
              <a:t>devops</a:t>
            </a:r>
            <a:r>
              <a:rPr lang="en-GB" baseline="0" dirty="0"/>
              <a:t> team … drop the bomb and run …</a:t>
            </a:r>
          </a:p>
          <a:p>
            <a:endParaRPr lang="en-GB" baseline="0" dirty="0"/>
          </a:p>
          <a:p>
            <a:r>
              <a:rPr lang="en-GB" baseline="0" dirty="0"/>
              <a:t>To get a focus on </a:t>
            </a:r>
            <a:r>
              <a:rPr lang="en-GB" baseline="0" dirty="0" err="1"/>
              <a:t>devops</a:t>
            </a:r>
            <a:r>
              <a:rPr lang="en-GB" baseline="0" dirty="0"/>
              <a:t> we started to identify a few people who might be able to help get more focus on streamlining the delivery of change into production … I talked about this a lot to our senior leadership team … </a:t>
            </a:r>
          </a:p>
          <a:p>
            <a:r>
              <a:rPr lang="en-GB" baseline="0" dirty="0"/>
              <a:t> - value stream mapping</a:t>
            </a:r>
          </a:p>
          <a:p>
            <a:r>
              <a:rPr lang="en-GB" baseline="0" dirty="0"/>
              <a:t> - CI / CD</a:t>
            </a:r>
          </a:p>
          <a:p>
            <a:r>
              <a:rPr lang="en-GB" baseline="0" dirty="0"/>
              <a:t> - Infrastructure as code</a:t>
            </a:r>
          </a:p>
          <a:p>
            <a:r>
              <a:rPr lang="en-GB" baseline="0" dirty="0"/>
              <a:t> - three amigos as a team</a:t>
            </a:r>
          </a:p>
          <a:p>
            <a:r>
              <a:rPr lang="en-GB" baseline="0" dirty="0"/>
              <a:t> - even talked to them about pigs and chickens … interestingly this one DCO got it .. </a:t>
            </a:r>
            <a:r>
              <a:rPr lang="en-GB" baseline="0" dirty="0" err="1"/>
              <a:t>Yani</a:t>
            </a:r>
            <a:r>
              <a:rPr lang="en-GB" baseline="0" dirty="0"/>
              <a:t> </a:t>
            </a:r>
          </a:p>
          <a:p>
            <a:endParaRPr lang="en-GB" baseline="0" dirty="0"/>
          </a:p>
          <a:p>
            <a:r>
              <a:rPr lang="en-GB" baseline="0" dirty="0"/>
              <a:t>Everyone nodding at me … things are moving slowly … its not supposed to be like this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48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didn’t get it … </a:t>
            </a:r>
          </a:p>
          <a:p>
            <a:endParaRPr lang="en-GB" dirty="0"/>
          </a:p>
          <a:p>
            <a:r>
              <a:rPr lang="en-GB" dirty="0"/>
              <a:t>Not</a:t>
            </a:r>
            <a:r>
              <a:rPr lang="en-GB" baseline="0" dirty="0"/>
              <a:t> that they thought it was a bad idea … simply didn’t get it … </a:t>
            </a:r>
          </a:p>
          <a:p>
            <a:endParaRPr lang="en-GB" baseline="0" dirty="0"/>
          </a:p>
          <a:p>
            <a:r>
              <a:rPr lang="en-GB" dirty="0"/>
              <a:t>Paul feeding steak to a baby</a:t>
            </a:r>
            <a:r>
              <a:rPr lang="en-GB" baseline="0" dirty="0"/>
              <a:t> … the team needed weening … </a:t>
            </a:r>
          </a:p>
          <a:p>
            <a:endParaRPr lang="en-GB" baseline="0" dirty="0"/>
          </a:p>
          <a:p>
            <a:r>
              <a:rPr lang="en-GB" b="1" baseline="0" dirty="0"/>
              <a:t>Know who you are talking to and adjust your message so they can consume it … the right message in the wrong way wont work.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071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baseline="0" dirty="0"/>
              <a:t>Change is a continuous thing … culture change is even harder … people are involved and then don’t necessarily understand … </a:t>
            </a:r>
          </a:p>
          <a:p>
            <a:endParaRPr lang="en-GB" b="0" baseline="0" dirty="0"/>
          </a:p>
          <a:p>
            <a:r>
              <a:rPr lang="en-GB" b="0" baseline="0" dirty="0"/>
              <a:t>You will need patience, a thick skin and lots and lots of tenacity …</a:t>
            </a:r>
          </a:p>
          <a:p>
            <a:endParaRPr lang="en-GB" b="0" baseline="0" dirty="0"/>
          </a:p>
          <a:p>
            <a:r>
              <a:rPr lang="en-GB" b="0" baseline="0" dirty="0"/>
              <a:t>Worst of all you will get people who just don’t want to see the change …</a:t>
            </a:r>
          </a:p>
          <a:p>
            <a:endParaRPr lang="en-GB" b="0" baseline="0" dirty="0"/>
          </a:p>
          <a:p>
            <a:r>
              <a:rPr lang="en-GB" b="1" baseline="0" dirty="0"/>
              <a:t>Key message: you are dealing with people … emotions and unconscious bias are your biggest enemy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11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 aware of the hype cycle</a:t>
            </a:r>
          </a:p>
          <a:p>
            <a:endParaRPr lang="en-GB" b="1" baseline="0" dirty="0"/>
          </a:p>
          <a:p>
            <a:r>
              <a:rPr lang="en-GB" b="1" baseline="0" dirty="0"/>
              <a:t>This is you now with your projects … </a:t>
            </a:r>
          </a:p>
          <a:p>
            <a:endParaRPr lang="en-GB" baseline="0" dirty="0"/>
          </a:p>
          <a:p>
            <a:r>
              <a:rPr lang="en-GB" baseline="0" dirty="0"/>
              <a:t>We have seen a lot of projects in the GEE  course some have gone on to succeed:</a:t>
            </a:r>
          </a:p>
          <a:p>
            <a:r>
              <a:rPr lang="en-GB" baseline="0" dirty="0"/>
              <a:t> - Git pub</a:t>
            </a:r>
          </a:p>
          <a:p>
            <a:r>
              <a:rPr lang="en-GB" baseline="0" dirty="0"/>
              <a:t> - DB Open Source</a:t>
            </a:r>
          </a:p>
          <a:p>
            <a:r>
              <a:rPr lang="en-GB" baseline="0" dirty="0"/>
              <a:t> - Kafka Monitoring</a:t>
            </a:r>
          </a:p>
          <a:p>
            <a:r>
              <a:rPr lang="en-GB" baseline="0" dirty="0"/>
              <a:t> - </a:t>
            </a:r>
            <a:r>
              <a:rPr lang="en-GB" baseline="0" dirty="0" err="1"/>
              <a:t>Fabricert</a:t>
            </a:r>
            <a:endParaRPr lang="en-GB" baseline="0" dirty="0"/>
          </a:p>
          <a:p>
            <a:r>
              <a:rPr lang="en-GB" baseline="0" dirty="0"/>
              <a:t> - Understanding Engineers</a:t>
            </a:r>
          </a:p>
          <a:p>
            <a:r>
              <a:rPr lang="en-GB" baseline="0" dirty="0"/>
              <a:t>There were another 30 odd projects … not to mention all the ones from this engineering day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4282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Be prepared to work some extra hours if this isn’t your day job</a:t>
            </a:r>
          </a:p>
          <a:p>
            <a:endParaRPr lang="en-GB" dirty="0"/>
          </a:p>
          <a:p>
            <a:r>
              <a:rPr lang="en-GB" dirty="0"/>
              <a:t>Blogging takes effort.</a:t>
            </a:r>
          </a:p>
          <a:p>
            <a:r>
              <a:rPr lang="en-GB" dirty="0"/>
              <a:t>Conferences / presentations take effort.</a:t>
            </a:r>
          </a:p>
          <a:p>
            <a:r>
              <a:rPr lang="en-GB" dirty="0"/>
              <a:t>Building relationships takes effort.</a:t>
            </a:r>
          </a:p>
          <a:p>
            <a:endParaRPr lang="en-GB" dirty="0"/>
          </a:p>
          <a:p>
            <a:r>
              <a:rPr lang="en-GB" dirty="0"/>
              <a:t>Getting stuff done takes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118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short, don’t give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548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</a:t>
            </a:r>
            <a:r>
              <a:rPr lang="en-GB" baseline="0" dirty="0"/>
              <a:t> by with a little help from your friends:</a:t>
            </a:r>
          </a:p>
          <a:p>
            <a:endParaRPr lang="en-GB" baseline="0" dirty="0"/>
          </a:p>
          <a:p>
            <a:r>
              <a:rPr lang="en-GB" baseline="0" dirty="0"/>
              <a:t> - GEE community and faculty</a:t>
            </a:r>
          </a:p>
          <a:p>
            <a:r>
              <a:rPr lang="en-GB" baseline="0" dirty="0"/>
              <a:t> - Distinguished Engineer Community</a:t>
            </a:r>
          </a:p>
          <a:p>
            <a:r>
              <a:rPr lang="en-GB" baseline="0" dirty="0"/>
              <a:t> - Senior Leaders like Alain and the others that you meet on your journey</a:t>
            </a:r>
          </a:p>
          <a:p>
            <a:endParaRPr lang="en-GB" baseline="0" dirty="0"/>
          </a:p>
          <a:p>
            <a:r>
              <a:rPr lang="en-GB" baseline="0" dirty="0"/>
              <a:t>We can help you …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931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Or, for the pessimists in the room…</a:t>
            </a:r>
          </a:p>
          <a:p>
            <a:endParaRPr lang="en-GB" dirty="0"/>
          </a:p>
          <a:p>
            <a:r>
              <a:rPr lang="en-GB" dirty="0"/>
              <a:t>Even if you fail, you win … consider:</a:t>
            </a:r>
          </a:p>
          <a:p>
            <a:r>
              <a:rPr lang="en-GB" dirty="0"/>
              <a:t> - failures</a:t>
            </a:r>
            <a:r>
              <a:rPr lang="en-GB" baseline="0" dirty="0"/>
              <a:t> from those that try and get up again are lessons</a:t>
            </a:r>
          </a:p>
          <a:p>
            <a:r>
              <a:rPr lang="en-GB" baseline="0" dirty="0"/>
              <a:t> - most failures mean we try again differently </a:t>
            </a:r>
          </a:p>
          <a:p>
            <a:r>
              <a:rPr lang="en-GB" baseline="0" dirty="0"/>
              <a:t> - most of the senior leaders in the firm care more about you trying to fix things than the actual outcome</a:t>
            </a:r>
          </a:p>
          <a:p>
            <a:endParaRPr lang="en-GB" baseline="0" dirty="0"/>
          </a:p>
          <a:p>
            <a:r>
              <a:rPr lang="en-GB" baseline="0" dirty="0"/>
              <a:t>Failure is good … in the engineering culture … we want to create an arena of psychological safety for innovators</a:t>
            </a:r>
          </a:p>
          <a:p>
            <a:endParaRPr lang="en-GB" baseline="0" dirty="0"/>
          </a:p>
          <a:p>
            <a:r>
              <a:rPr lang="en-GB" baseline="0" dirty="0"/>
              <a:t>Theodore Roosevelt speak … Man in the Arena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643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Bear with me</a:t>
            </a:r>
            <a:r>
              <a:rPr lang="en-GB" baseline="0" dirty="0"/>
              <a:t> on the clichés … this is one to remember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9558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991B73-4197-47B6-81ED-119E717D5F2E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762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04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40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8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2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18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80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47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56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9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5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082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FBB9E-FFC7-4D4F-8405-1680672D91B4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7C750-F238-46DF-9028-A131E43C304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-1264128617,&quot;Placement&quot;:&quot;Footer&quot;}"/>
          <p:cNvSpPr txBox="1"/>
          <p:nvPr userDrawn="1"/>
        </p:nvSpPr>
        <p:spPr>
          <a:xfrm>
            <a:off x="5965613" y="6595656"/>
            <a:ext cx="26077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968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wminder Blog: Core Values Part 2 - Get Stuff Done: The Newmin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95250"/>
            <a:ext cx="57150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04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d Tape Strangling SEIS And EIS, Claims Expert - iExpa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2" y="381000"/>
            <a:ext cx="12205852" cy="610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02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s! – Olubukola's Though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901" y="587828"/>
            <a:ext cx="6166848" cy="581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00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reativity boost - The experiment with the five monkey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10" y="305368"/>
            <a:ext cx="12260620" cy="605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70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e Monkey, Banana, Water Spray Experiment | Mails and Forwar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149658"/>
            <a:ext cx="10626725" cy="655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45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Famous 'Social Experiment': 5 Monkeys And a Ladder. - Truth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1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28176"/>
            <a:ext cx="12191999" cy="640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9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Famous 'Social Experiment': 5 Monkeys And a Ladder. - Truth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32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28176"/>
            <a:ext cx="12191999" cy="64016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890" y="3175000"/>
            <a:ext cx="2240113" cy="232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9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Famous 'Social Experiment': 5 Monkeys And a Ladder. - Truth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130" y="4770320"/>
            <a:ext cx="1714739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34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l-Salame السلامة: مفهوم العادات والتقاليد علميا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649382"/>
            <a:ext cx="10807700" cy="555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3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96" y="398690"/>
            <a:ext cx="10406063" cy="595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85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cret Agent needed for filming - Livingston Football Cl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415" y="924832"/>
            <a:ext cx="9981769" cy="483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817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A Walk Through Life - You Don't Have to Start Big for You to be Big - Start  Small and Grow Big — Steem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70" y="486591"/>
            <a:ext cx="9642430" cy="54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03" y="349703"/>
            <a:ext cx="8061085" cy="603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86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246" y="419508"/>
            <a:ext cx="6479314" cy="592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7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28625"/>
            <a:ext cx="121539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89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39" y="235131"/>
            <a:ext cx="11239862" cy="632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9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03" y="349703"/>
            <a:ext cx="8061085" cy="603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35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912" y="406928"/>
            <a:ext cx="8861955" cy="589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05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The Idea Compil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220" y="-883046"/>
            <a:ext cx="12604441" cy="862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282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G_06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677333"/>
            <a:ext cx="8852958" cy="590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164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hallen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-18097"/>
            <a:ext cx="9779000" cy="689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000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ype cycle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533" y="1260674"/>
            <a:ext cx="8622323" cy="55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>
            <a:off x="2743200" y="2015067"/>
            <a:ext cx="1761067" cy="152400"/>
          </a:xfrm>
          <a:prstGeom prst="straightConnector1">
            <a:avLst/>
          </a:prstGeom>
          <a:ln w="82550">
            <a:solidFill>
              <a:schemeClr val="tx1"/>
            </a:solidFill>
            <a:prstDash val="sys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1260674"/>
            <a:ext cx="17949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dirty="0"/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3231964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Stress At  Wo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07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Nothing in the world can take the place of Persistence. Talent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82" y="86268"/>
            <a:ext cx="8137436" cy="668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234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50" y="361420"/>
            <a:ext cx="6178550" cy="620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19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Never Give 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0"/>
            <a:ext cx="9728200" cy="685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715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4826" b="6823"/>
          <a:stretch/>
        </p:blipFill>
        <p:spPr>
          <a:xfrm>
            <a:off x="1066800" y="362400"/>
            <a:ext cx="10260263" cy="61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69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4 Crucial Slides for Your Investor Presentation |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1335"/>
            <a:ext cx="12192000" cy="381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70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6CCF7B8A6474449028FDF96E7BBEA3" ma:contentTypeVersion="15" ma:contentTypeDescription="Create a new document." ma:contentTypeScope="" ma:versionID="879ab658209f67820919e463015993da">
  <xsd:schema xmlns:xsd="http://www.w3.org/2001/XMLSchema" xmlns:xs="http://www.w3.org/2001/XMLSchema" xmlns:p="http://schemas.microsoft.com/office/2006/metadata/properties" xmlns:ns2="91a92835-11eb-41de-9585-07759940429f" xmlns:ns3="188ccae5-da28-4531-be91-f7d3801d0266" targetNamespace="http://schemas.microsoft.com/office/2006/metadata/properties" ma:root="true" ma:fieldsID="f7d636f703b0514b165d5388680df8bb" ns2:_="" ns3:_="">
    <xsd:import namespace="91a92835-11eb-41de-9585-07759940429f"/>
    <xsd:import namespace="188ccae5-da28-4531-be91-f7d3801d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92835-11eb-41de-9585-0775994042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b07889d-86fd-4c27-b57f-2fd7aac89e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8ccae5-da28-4531-be91-f7d3801d02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5021b0f-74a5-4cb3-84d1-ab74e3a71c90}" ma:internalName="TaxCatchAll" ma:showField="CatchAllData" ma:web="188ccae5-da28-4531-be91-f7d3801d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a92835-11eb-41de-9585-07759940429f">
      <Terms xmlns="http://schemas.microsoft.com/office/infopath/2007/PartnerControls"/>
    </lcf76f155ced4ddcb4097134ff3c332f>
    <TaxCatchAll xmlns="188ccae5-da28-4531-be91-f7d3801d0266" xsi:nil="true"/>
  </documentManagement>
</p:properties>
</file>

<file path=customXml/itemProps1.xml><?xml version="1.0" encoding="utf-8"?>
<ds:datastoreItem xmlns:ds="http://schemas.openxmlformats.org/officeDocument/2006/customXml" ds:itemID="{AADAF3E0-BAA3-463A-A053-596529BDF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92835-11eb-41de-9585-07759940429f"/>
    <ds:schemaRef ds:uri="188ccae5-da28-4531-be91-f7d3801d02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D242B7-6F81-4FCE-A3D7-A02D9B4C29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8670C-BAA3-4979-BA02-2F66B690FE8D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188ccae5-da28-4531-be91-f7d3801d0266"/>
    <ds:schemaRef ds:uri="91a92835-11eb-41de-9585-07759940429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1493</Words>
  <Application>Microsoft Office PowerPoint</Application>
  <PresentationFormat>Widescreen</PresentationFormat>
  <Paragraphs>193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Deutsche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Suggitt</dc:creator>
  <cp:lastModifiedBy>Peter Suggitt</cp:lastModifiedBy>
  <cp:revision>53</cp:revision>
  <dcterms:created xsi:type="dcterms:W3CDTF">2020-05-20T16:46:39Z</dcterms:created>
  <dcterms:modified xsi:type="dcterms:W3CDTF">2026-10-04T14:40:44Z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0x010100476CCF7B8A6474449028FDF96E7BBEA3</vt:lpwstr>
  </property>
  <property fmtid="{D5CDD505-2E9C-101B-9397-08002B2CF9AE}" pid="3" name="MSIP_Label_958510b9-3810-472f-9abf-3a689c488070_Enabled">
    <vt:lpwstr>True</vt:lpwstr>
  </property>
  <property fmtid="{D5CDD505-2E9C-101B-9397-08002B2CF9AE}" pid="4" name="MSIP_Label_958510b9-3810-472f-9abf-3a689c488070_SiteId">
    <vt:lpwstr>1e9b61e8-e590-4abc-b1af-24125e330d2a</vt:lpwstr>
  </property>
  <property fmtid="{D5CDD505-2E9C-101B-9397-08002B2CF9AE}" pid="5" name="MSIP_Label_958510b9-3810-472f-9abf-3a689c488070_Owner">
    <vt:lpwstr>peter.suggitt@db.com</vt:lpwstr>
  </property>
  <property fmtid="{D5CDD505-2E9C-101B-9397-08002B2CF9AE}" pid="6" name="MSIP_Label_958510b9-3810-472f-9abf-3a689c488070_SetDate">
    <vt:lpwstr>2020-12-03T09:49:48.7915507Z</vt:lpwstr>
  </property>
  <property fmtid="{D5CDD505-2E9C-101B-9397-08002B2CF9AE}" pid="7" name="MSIP_Label_958510b9-3810-472f-9abf-3a689c488070_Name">
    <vt:lpwstr>Public</vt:lpwstr>
  </property>
  <property fmtid="{D5CDD505-2E9C-101B-9397-08002B2CF9AE}" pid="8" name="MSIP_Label_958510b9-3810-472f-9abf-3a689c488070_Application">
    <vt:lpwstr>Microsoft Azure Information Protection</vt:lpwstr>
  </property>
  <property fmtid="{D5CDD505-2E9C-101B-9397-08002B2CF9AE}" pid="9" name="MSIP_Label_958510b9-3810-472f-9abf-3a689c488070_ActionId">
    <vt:lpwstr>e0f3f986-278f-4c15-80d1-46c596f04385</vt:lpwstr>
  </property>
  <property fmtid="{D5CDD505-2E9C-101B-9397-08002B2CF9AE}" pid="10" name="MSIP_Label_958510b9-3810-472f-9abf-3a689c488070_Extended_MSFT_Method">
    <vt:lpwstr>Automatic</vt:lpwstr>
  </property>
  <property fmtid="{D5CDD505-2E9C-101B-9397-08002B2CF9AE}" pid="11" name="db.comClassification">
    <vt:lpwstr>Public</vt:lpwstr>
  </property>
  <property fmtid="{D5CDD505-2E9C-101B-9397-08002B2CF9AE}" pid="12" name="Order">
    <vt:r8>5526500</vt:r8>
  </property>
  <property fmtid="{D5CDD505-2E9C-101B-9397-08002B2CF9AE}" pid="13" name="_ExtendedDescription">
    <vt:lpwstr/>
  </property>
</Properties>
</file>